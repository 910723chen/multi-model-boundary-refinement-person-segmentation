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2cc034dbc4094e73" /><Relationship Type="http://schemas.openxmlformats.org/officeDocument/2006/relationships/extended-properties" Target="/docProps/app.xml" Id="R714db504a9024643" /><Relationship Type="http://schemas.openxmlformats.org/officeDocument/2006/relationships/officeDocument" Target="/ppt/presentation.xml" Id="R8b05d35e64234eab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199c04003a6c449d"/>
  </p:sldMasterIdLst>
  <p:notesMasterIdLst>
    <p:notesMasterId xmlns:r="http://schemas.openxmlformats.org/officeDocument/2006/relationships" r:id="R1ced3c4878bc48cd"/>
  </p:notesMasterIdLst>
  <p:sldIdLst>
    <p:sldId xmlns:r="http://schemas.openxmlformats.org/officeDocument/2006/relationships" id="256" r:id="R5ee985f91e0347fa"/>
    <p:sldId xmlns:r="http://schemas.openxmlformats.org/officeDocument/2006/relationships" id="257" r:id="R16a7db0e0fa84e0b"/>
    <p:sldId xmlns:r="http://schemas.openxmlformats.org/officeDocument/2006/relationships" id="258" r:id="R51187a05bc9e4af2"/>
    <p:sldId xmlns:r="http://schemas.openxmlformats.org/officeDocument/2006/relationships" id="259" r:id="Rc4be293cc8ee43c0"/>
    <p:sldId xmlns:r="http://schemas.openxmlformats.org/officeDocument/2006/relationships" id="260" r:id="R775f23d8128c4f5d"/>
    <p:sldId xmlns:r="http://schemas.openxmlformats.org/officeDocument/2006/relationships" id="261" r:id="R8e6c715951684d24"/>
    <p:sldId xmlns:r="http://schemas.openxmlformats.org/officeDocument/2006/relationships" id="262" r:id="Rbe60f7c06a0a46a2"/>
    <p:sldId xmlns:r="http://schemas.openxmlformats.org/officeDocument/2006/relationships" id="263" r:id="Re996b3d7f0b9430e"/>
  </p:sldIdLst>
  <p:sldSz cx="18288000" cy="10287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99c04003a6c449d" /><Relationship Type="http://schemas.openxmlformats.org/officeDocument/2006/relationships/theme" Target="/ppt/theme/theme1.xml" Id="Re8a4ded2d02c4a86" /><Relationship Type="http://schemas.openxmlformats.org/officeDocument/2006/relationships/notesMaster" Target="/ppt/notesMasters/notesMaster1.xml" Id="R1ced3c4878bc48cd" /><Relationship Type="http://schemas.openxmlformats.org/officeDocument/2006/relationships/presProps" Target="/ppt/presProps.xml" Id="R407791cf79e4401a" /><Relationship Type="http://schemas.openxmlformats.org/officeDocument/2006/relationships/viewProps" Target="/ppt/viewProps.xml" Id="Rc58fff6aad974ace" /><Relationship Type="http://schemas.openxmlformats.org/officeDocument/2006/relationships/tableStyles" Target="/ppt/tableStyles.xml" Id="R26f8dd5536114568" /><Relationship Type="http://schemas.openxmlformats.org/officeDocument/2006/relationships/slide" Target="/ppt/slides/slide1.xml" Id="R5ee985f91e0347fa" /><Relationship Type="http://schemas.openxmlformats.org/officeDocument/2006/relationships/slide" Target="/ppt/slides/slide2.xml" Id="R16a7db0e0fa84e0b" /><Relationship Type="http://schemas.openxmlformats.org/officeDocument/2006/relationships/slide" Target="/ppt/slides/slide3.xml" Id="R51187a05bc9e4af2" /><Relationship Type="http://schemas.openxmlformats.org/officeDocument/2006/relationships/slide" Target="/ppt/slides/slide4.xml" Id="Rc4be293cc8ee43c0" /><Relationship Type="http://schemas.openxmlformats.org/officeDocument/2006/relationships/slide" Target="/ppt/slides/slide5.xml" Id="R775f23d8128c4f5d" /><Relationship Type="http://schemas.openxmlformats.org/officeDocument/2006/relationships/slide" Target="/ppt/slides/slide6.xml" Id="R8e6c715951684d24" /><Relationship Type="http://schemas.openxmlformats.org/officeDocument/2006/relationships/slide" Target="/ppt/slides/slide7.xml" Id="Rbe60f7c06a0a46a2" /><Relationship Type="http://schemas.openxmlformats.org/officeDocument/2006/relationships/slide" Target="/ppt/slides/slide8.xml" Id="Re996b3d7f0b9430e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0543138a300e4e05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b37fa5356ed14b02" /><Relationship Type="http://schemas.openxmlformats.org/officeDocument/2006/relationships/notesMaster" Target="/ppt/notesMasters/notesMaster1.xml" Id="Rc2281e384ccb4186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0ab79528c2ba41d5" /><Relationship Type="http://schemas.openxmlformats.org/officeDocument/2006/relationships/notesMaster" Target="/ppt/notesMasters/notesMaster1.xml" Id="R3a2fdfaa5ce34998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391ff986daa24f77" /><Relationship Type="http://schemas.openxmlformats.org/officeDocument/2006/relationships/notesMaster" Target="/ppt/notesMasters/notesMaster1.xml" Id="R65efd94369b24013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5b6b88d291674dfe" /><Relationship Type="http://schemas.openxmlformats.org/officeDocument/2006/relationships/notesMaster" Target="/ppt/notesMasters/notesMaster1.xml" Id="R2e4bf9f52ddb4215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1083786d43b340f1" /><Relationship Type="http://schemas.openxmlformats.org/officeDocument/2006/relationships/notesMaster" Target="/ppt/notesMasters/notesMaster1.xml" Id="Rf14c30ee70ce4176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3fcbda9f1d2c4a98" /><Relationship Type="http://schemas.openxmlformats.org/officeDocument/2006/relationships/notesMaster" Target="/ppt/notesMasters/notesMaster1.xml" Id="R102eeedd211d49dd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1825236e2a624602" /><Relationship Type="http://schemas.openxmlformats.org/officeDocument/2006/relationships/notesMaster" Target="/ppt/notesMasters/notesMaster1.xml" Id="R9ed3fb3525084f71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805f407113c745ab" /><Relationship Type="http://schemas.openxmlformats.org/officeDocument/2006/relationships/notesMaster" Target="/ppt/notesMasters/notesMaster1.xml" Id="R568795388e9c479d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0313c8e34d64917" /></Relationships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theme/theme1.xml" Id="Rf3f40c071c404901" /><Relationship Type="http://schemas.openxmlformats.org/officeDocument/2006/relationships/slideLayout" Target="/ppt/slideLayouts/slideLayout2.xml" Id="R9fad3017a6cd4c49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9fad3017a6cd4c49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8eea506627a546ed" /><Relationship Type="http://schemas.openxmlformats.org/officeDocument/2006/relationships/image" Target="/ppt/media/image.png" Id="R3f1b9d265e9c4678" /><Relationship Type="http://schemas.openxmlformats.org/officeDocument/2006/relationships/notesSlide" Target="/ppt/notesSlides/notesSlide1.xml" Id="Racf2b0cf39a34105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d3aa3896dd74420a" /><Relationship Type="http://schemas.openxmlformats.org/officeDocument/2006/relationships/notesSlide" Target="/ppt/notesSlides/notesSlide2.xml" Id="R5f6cac29b12d4e32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daacefff8a2b4ac8" /><Relationship Type="http://schemas.openxmlformats.org/officeDocument/2006/relationships/image" Target="/ppt/media/image2.png" Id="R36517c1a3bd74b8b" /><Relationship Type="http://schemas.openxmlformats.org/officeDocument/2006/relationships/notesSlide" Target="/ppt/notesSlides/notesSlide3.xml" Id="R26b0789717264378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4419fa44d78d46a7" /><Relationship Type="http://schemas.openxmlformats.org/officeDocument/2006/relationships/notesSlide" Target="/ppt/notesSlides/notesSlide4.xml" Id="R879579fb97114917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ee6a7b462f634f01" /><Relationship Type="http://schemas.openxmlformats.org/officeDocument/2006/relationships/notesSlide" Target="/ppt/notesSlides/notesSlide5.xml" Id="R6a00e09a50084998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55214bb3ae19412b" /><Relationship Type="http://schemas.openxmlformats.org/officeDocument/2006/relationships/image" Target="/ppt/media/image3.png" Id="R7e4344d145d746c4" /><Relationship Type="http://schemas.openxmlformats.org/officeDocument/2006/relationships/notesSlide" Target="/ppt/notesSlides/notesSlide6.xml" Id="R61e62e85b518490f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b2b96dedbc644a76" /><Relationship Type="http://schemas.openxmlformats.org/officeDocument/2006/relationships/image" Target="/ppt/media/image4.png" Id="Rcb703bd624c74f95" /><Relationship Type="http://schemas.openxmlformats.org/officeDocument/2006/relationships/image" Target="/ppt/media/image5.png" Id="R9445330248ba44ac" /><Relationship Type="http://schemas.openxmlformats.org/officeDocument/2006/relationships/notesSlide" Target="/ppt/notesSlides/notesSlide7.xml" Id="Rfd634740c8f84c8f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13971593b3464673" /><Relationship Type="http://schemas.openxmlformats.org/officeDocument/2006/relationships/notesSlide" Target="/ppt/notesSlides/notesSlide8.xml" Id="R060154f70c2e429a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C301387-B81A-4A03-9CA1-F5C6A69F0C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33400"/>
            <a:ext cx="168402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65717C"/>
                </a:solidFill>
              </a:defRPr>
            </a:pPr>
            <a:r>
              <a:t>Artificial Intelligence Applications | Final Project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2403D0A-9DF8-4DB5-B65A-27D10D242D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028700"/>
            <a:ext cx="13430250" cy="1695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5550" b="1">
                <a:solidFill>
                  <a:srgbClr val="173B4F"/>
                </a:solidFill>
              </a:defRPr>
            </a:pPr>
            <a:r>
              <a:t>Multi-Model Boundary Refinement for Person Segmentation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1F2E317-CF5E-44BA-A8CA-C04FA21818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952750"/>
            <a:ext cx="28575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F8F61"/>
          </a:solidFill>
          <a:ln xmlns:a="http://schemas.openxmlformats.org/drawingml/2006/main" w="0">
            <a:solidFill>
              <a:srgbClr val="3F8F61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60B3D9E-F9D5-4FBF-A7B6-6286E9F98A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257550"/>
            <a:ext cx="1684020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400">
                <a:solidFill>
                  <a:srgbClr val="65717C"/>
                </a:solidFill>
              </a:defRPr>
            </a:pPr>
            <a:r>
              <a:t>SAM + YOLO + Canny Edge Scoring + GrabCut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1C38FF3-561F-404A-A28F-4170F3D83F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846195"/>
            <a:ext cx="5435600" cy="1571625"/>
          </a:xfrm>
          <a:prstGeom xmlns:a="http://schemas.openxmlformats.org/drawingml/2006/main" prst="roundRect">
            <a:avLst>
              <a:gd name="adj" fmla="val 8485"/>
            </a:avLst>
          </a:prstGeom>
          <a:solidFill xmlns:a="http://schemas.openxmlformats.org/drawingml/2006/main">
            <a:srgbClr val="F3F7F9"/>
          </a:solidFill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C154849-FF80-453C-B8FF-EAAE814FFF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076700"/>
            <a:ext cx="4972050" cy="495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3F8F61"/>
                </a:solidFill>
              </a:defRPr>
            </a:pPr>
            <a:r>
              <a:t>12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DB8CEC5-8B7C-47DA-A0F0-B547E36CD9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610100"/>
            <a:ext cx="49720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65717C"/>
                </a:solidFill>
              </a:defRPr>
            </a:pPr>
            <a:r>
              <a:t>selected test images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E7EF792-06E9-4BDB-838E-753576E686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6200" y="3846195"/>
            <a:ext cx="5435600" cy="1571625"/>
          </a:xfrm>
          <a:prstGeom xmlns:a="http://schemas.openxmlformats.org/drawingml/2006/main" prst="roundRect">
            <a:avLst>
              <a:gd name="adj" fmla="val 8485"/>
            </a:avLst>
          </a:prstGeom>
          <a:solidFill xmlns:a="http://schemas.openxmlformats.org/drawingml/2006/main">
            <a:srgbClr val="F3F7F9"/>
          </a:solidFill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46F0777-B5DD-41BA-B7B3-1DD661D1B1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4076700"/>
            <a:ext cx="4972050" cy="495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C98A32"/>
                </a:solidFill>
              </a:defRPr>
            </a:pPr>
            <a:r>
              <a:t>8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6C5729E-8088-4BB8-82AA-A99EE4A438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4610100"/>
            <a:ext cx="49720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65717C"/>
                </a:solidFill>
              </a:defRPr>
            </a:pPr>
            <a:r>
              <a:t>experiment versions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BC88BAE-32ED-4C4C-B6C0-88D9984C31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28500" y="3846195"/>
            <a:ext cx="5435600" cy="1571625"/>
          </a:xfrm>
          <a:prstGeom xmlns:a="http://schemas.openxmlformats.org/drawingml/2006/main" prst="roundRect">
            <a:avLst>
              <a:gd name="adj" fmla="val 8485"/>
            </a:avLst>
          </a:prstGeom>
          <a:solidFill xmlns:a="http://schemas.openxmlformats.org/drawingml/2006/main">
            <a:srgbClr val="F3F7F9"/>
          </a:solidFill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E70F99C-3A8F-4644-89EE-5564289A7D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63450" y="4076700"/>
            <a:ext cx="4972050" cy="495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3F8F61"/>
                </a:solidFill>
              </a:defRPr>
            </a:pPr>
            <a:r>
              <a:t>0.8855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9FD036B-BC16-4956-A39F-6C0A533B89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63450" y="4610100"/>
            <a:ext cx="49720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65717C"/>
                </a:solidFill>
              </a:defRPr>
            </a:pPr>
            <a:r>
              <a:t>best mean edge alignment</a:t>
            </a:r>
          </a:p>
        </p:txBody>
      </p:sp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f1b9d265e9c4678"/>
          <a:stretch xmlns:a="http://schemas.openxmlformats.org/drawingml/2006/main"/>
        </p:blipFill>
        <p:spPr>
          <a:xfrm xmlns:a="http://schemas.openxmlformats.org/drawingml/2006/main">
            <a:off x="723900" y="5646420"/>
            <a:ext cx="16840200" cy="2619375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29966591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title">
            <a:extLst xmlns:a="http://schemas.openxmlformats.org/drawingml/2006/main">
              <a:ext uri="{FF2B5EF4-FFF2-40B4-BE49-F238E27FC236}">
                <a16:creationId xmlns:a16="http://schemas.microsoft.com/office/drawing/2014/main" id="{F57369F7-334C-48A4-870E-C177E5081C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33400"/>
            <a:ext cx="16840200" cy="628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050" b="1">
                <a:solidFill>
                  <a:srgbClr val="173B4F"/>
                </a:solidFill>
              </a:defRPr>
            </a:pPr>
            <a:r>
              <a:t>Problem and Objective</a:t>
            </a:r>
          </a:p>
        </p:txBody>
      </p:sp>
      <p:sp>
        <p:nvSpPr>
          <p:cNvPr id="2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78929C6D-B7AD-43D8-A2D2-B2F39A9942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238250"/>
            <a:ext cx="796290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65717C"/>
                </a:solidFill>
              </a:defRPr>
            </a:pPr>
            <a:r>
              <a:t>The project improves person mask boundaries without training a new neural network.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9FAA102-055E-46F8-B064-A110BFE883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061210"/>
            <a:ext cx="8277225" cy="5905500"/>
          </a:xfrm>
          <a:prstGeom xmlns:a="http://schemas.openxmlformats.org/drawingml/2006/main" prst="roundRect">
            <a:avLst>
              <a:gd name="adj" fmla="val 2581"/>
            </a:avLst>
          </a:prstGeom>
          <a:solidFill xmlns:a="http://schemas.openxmlformats.org/drawingml/2006/main">
            <a:srgbClr val="F3F7F9"/>
          </a:solidFill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44CA0A5-8558-4281-9464-87C88B95C5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381250"/>
            <a:ext cx="763905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73B4F"/>
                </a:solidFill>
              </a:defRPr>
            </a:pPr>
            <a:r>
              <a:t>Problem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1A18F10-7A69-4D35-BBF1-0162EB45BC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971800"/>
            <a:ext cx="76390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>
                <a:solidFill>
                  <a:srgbClr val="1E2933"/>
                </a:solidFill>
              </a:defRPr>
            </a:pPr>
            <a:r>
              <a:t>- SAM automatic masks can select imperfect target regions.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5B2DDA5-7D8E-4D62-A5FA-47B926236D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448050"/>
            <a:ext cx="76390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>
                <a:solidFill>
                  <a:srgbClr val="1E2933"/>
                </a:solidFill>
              </a:defRPr>
            </a:pPr>
            <a:r>
              <a:t>- YOLO-Seg direct masks are not detailed enough on this small dataset.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56AD66F-0CA2-454E-AD2D-C55322432B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924300"/>
            <a:ext cx="76390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>
                <a:solidFill>
                  <a:srgbClr val="1E2933"/>
                </a:solidFill>
              </a:defRPr>
            </a:pPr>
            <a:r>
              <a:t>- The output boundary needs to better follow visible person edges.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086B86A-B50B-481F-9054-D9DD111CA9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6875" y="2061210"/>
            <a:ext cx="8277225" cy="5905500"/>
          </a:xfrm>
          <a:prstGeom xmlns:a="http://schemas.openxmlformats.org/drawingml/2006/main" prst="roundRect">
            <a:avLst>
              <a:gd name="adj" fmla="val 258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9E4EA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DF00AA9-FD9B-4DAF-99B4-0C7D1BC857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2381250"/>
            <a:ext cx="763905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73B4F"/>
                </a:solidFill>
              </a:defRPr>
            </a:pPr>
            <a:r>
              <a:t>Objective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F2E3738-632C-4048-AFC3-8AEDA9A539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2971800"/>
            <a:ext cx="76390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>
                <a:solidFill>
                  <a:srgbClr val="1E2933"/>
                </a:solidFill>
              </a:defRPr>
            </a:pPr>
            <a:r>
              <a:t>- Use YOLO to localize the person region.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B0CEC5A-67C8-4FE6-B060-CCC8D90270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3448050"/>
            <a:ext cx="76390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>
                <a:solidFill>
                  <a:srgbClr val="1E2933"/>
                </a:solidFill>
              </a:defRPr>
            </a:pPr>
            <a:r>
              <a:t>- Use SAM to generate the segmentation mask.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F75277D-945F-48FE-9CEB-448656AC12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3924300"/>
            <a:ext cx="76390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>
                <a:solidFill>
                  <a:srgbClr val="1E2933"/>
                </a:solidFill>
              </a:defRPr>
            </a:pPr>
            <a:r>
              <a:t>- Use Canny and GrabCut to evaluate and refine the boundary.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3B4595D-78B3-4398-B284-C4AC12EF09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8229600"/>
            <a:ext cx="168402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65717C"/>
                </a:solidFill>
              </a:defRPr>
            </a:pPr>
            <a:r>
              <a:t>Scope: preliminary course project; final accuracy still needs ground-truth masks for IoU and Dice.</a:t>
            </a:r>
          </a:p>
        </p:txBody>
      </p:sp>
    </p:spTree>
    <p:extLst>
      <p:ext uri="{BB962C8B-B14F-4D97-AF65-F5344CB8AC3E}">
        <p14:creationId xmlns:p14="http://schemas.microsoft.com/office/powerpoint/2010/main" val="312264309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title">
            <a:extLst xmlns:a="http://schemas.openxmlformats.org/drawingml/2006/main">
              <a:ext uri="{FF2B5EF4-FFF2-40B4-BE49-F238E27FC236}">
                <a16:creationId xmlns:a16="http://schemas.microsoft.com/office/drawing/2014/main" id="{812503AB-0FC9-4A4B-9073-CDD7C3A861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33400"/>
            <a:ext cx="16840200" cy="628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050" b="1">
                <a:solidFill>
                  <a:srgbClr val="173B4F"/>
                </a:solidFill>
              </a:defRPr>
            </a:pPr>
            <a:r>
              <a:t>Methodology / Block Diagram</a:t>
            </a:r>
          </a:p>
        </p:txBody>
      </p:sp>
      <p:sp>
        <p:nvSpPr>
          <p:cNvPr id="2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0672385B-4171-400C-A3DD-E9E39D26D0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238250"/>
            <a:ext cx="628650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65717C"/>
                </a:solidFill>
              </a:defRPr>
            </a:pPr>
            <a:r>
              <a:t>The final method is a hybrid pipeline, not a new model architecture.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5B482F6-47CD-4279-AF34-48D3F41480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061210"/>
            <a:ext cx="3230880" cy="1543050"/>
          </a:xfrm>
          <a:prstGeom xmlns:a="http://schemas.openxmlformats.org/drawingml/2006/main" prst="roundRect">
            <a:avLst>
              <a:gd name="adj" fmla="val 864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9E4EA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8DF219E-12FB-4663-A93B-1784B68006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209800"/>
            <a:ext cx="28956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3E7DA8"/>
                </a:solidFill>
              </a:defRPr>
            </a:pPr>
            <a:r>
              <a:t>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75893DE-2F4C-4DB8-A1D1-AE194C0E23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609850"/>
            <a:ext cx="28956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1E2933"/>
                </a:solidFill>
              </a:defRPr>
            </a:pPr>
            <a:r>
              <a:t>Input image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83775E7-7C0F-45A7-AF1E-6D13F6266F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914650"/>
            <a:ext cx="28956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65717C"/>
                </a:solidFill>
              </a:defRPr>
            </a:pPr>
            <a:r>
              <a:t>Selected person photo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4FE8071-8767-42AE-879F-A99B0CF008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26230" y="2061210"/>
            <a:ext cx="3230880" cy="1543050"/>
          </a:xfrm>
          <a:prstGeom xmlns:a="http://schemas.openxmlformats.org/drawingml/2006/main" prst="roundRect">
            <a:avLst>
              <a:gd name="adj" fmla="val 864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9E4EA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8441BEF-B3B6-4E66-B35E-071DFE9E2F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2209800"/>
            <a:ext cx="28956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3E7DA8"/>
                </a:solidFill>
              </a:defRPr>
            </a:pPr>
            <a:r>
              <a:t>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BEC43DC-013E-461C-ACF4-9B6430BA95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2609850"/>
            <a:ext cx="28956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1E2933"/>
                </a:solidFill>
              </a:defRPr>
            </a:pPr>
            <a:r>
              <a:t>YOLO box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21F9589-4AD8-4E4F-AF1F-3892A126C4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2914650"/>
            <a:ext cx="28956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65717C"/>
                </a:solidFill>
              </a:defRPr>
            </a:pPr>
            <a:r>
              <a:t>Detect target person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061D7C9-7EFC-466D-BCD9-BFAF6D5CED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8560" y="2061210"/>
            <a:ext cx="3230880" cy="1543050"/>
          </a:xfrm>
          <a:prstGeom xmlns:a="http://schemas.openxmlformats.org/drawingml/2006/main" prst="roundRect">
            <a:avLst>
              <a:gd name="adj" fmla="val 864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9E4EA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B5E345A-4FD5-4194-A7A0-A1A0E10FBC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2209800"/>
            <a:ext cx="28956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3F8F61"/>
                </a:solidFill>
              </a:defRPr>
            </a:pPr>
            <a:r>
              <a:t>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DEACC72-9E09-44DC-897D-64C2E81003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2609850"/>
            <a:ext cx="28956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1E2933"/>
                </a:solidFill>
              </a:defRPr>
            </a:pPr>
            <a:r>
              <a:t>SAM mask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056D572-C5ED-42DA-B520-25593021C7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2914650"/>
            <a:ext cx="28956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65717C"/>
                </a:solidFill>
              </a:defRPr>
            </a:pPr>
            <a:r>
              <a:t>Box-prompted segmentation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6BBFB62-1793-48C5-865D-EFBE7B64E8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0890" y="2061210"/>
            <a:ext cx="3230880" cy="1543050"/>
          </a:xfrm>
          <a:prstGeom xmlns:a="http://schemas.openxmlformats.org/drawingml/2006/main" prst="roundRect">
            <a:avLst>
              <a:gd name="adj" fmla="val 864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9E4EA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B380C39-FCB7-4162-BCF9-4BCAAC426C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2209800"/>
            <a:ext cx="28956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C98A32"/>
                </a:solidFill>
              </a:defRPr>
            </a:pPr>
            <a:r>
              <a:t>4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8BA2A59-D2B2-4ADB-A4BA-A74C3CA2A9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2609850"/>
            <a:ext cx="28956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1E2933"/>
                </a:solidFill>
              </a:defRPr>
            </a:pPr>
            <a:r>
              <a:t>Edge map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38A0CE7-4F54-4709-B0F3-85DF7EE0CD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2914650"/>
            <a:ext cx="28956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65717C"/>
                </a:solidFill>
              </a:defRPr>
            </a:pPr>
            <a:r>
              <a:t>Canny boundary check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A8E1BFD-3F77-4BB4-ABEC-AB5AF4ECB5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33220" y="2061210"/>
            <a:ext cx="3230880" cy="1543050"/>
          </a:xfrm>
          <a:prstGeom xmlns:a="http://schemas.openxmlformats.org/drawingml/2006/main" prst="roundRect">
            <a:avLst>
              <a:gd name="adj" fmla="val 864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9E4EA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7596B4B-95BB-4002-97B0-0217582099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97050" y="2209800"/>
            <a:ext cx="28956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3F8F61"/>
                </a:solidFill>
              </a:defRPr>
            </a:pPr>
            <a:r>
              <a:t>5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A9171BE-9BD7-45F7-9EEF-D54840AFD9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97050" y="2609850"/>
            <a:ext cx="28956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1E2933"/>
                </a:solidFill>
              </a:defRPr>
            </a:pPr>
            <a:r>
              <a:t>GrabCut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5B6DBA9-188C-4314-B567-84FCDA5F86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97050" y="2914650"/>
            <a:ext cx="28956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65717C"/>
                </a:solidFill>
              </a:defRPr>
            </a:pPr>
            <a:r>
              <a:t>Foreground refinement</a:t>
            </a:r>
          </a:p>
        </p:txBody>
      </p:sp>
      <p:pic>
        <p:nvPicPr>
          <p:cNvPr id="2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6517c1a3bd74b8b"/>
          <a:stretch xmlns:a="http://schemas.openxmlformats.org/drawingml/2006/main"/>
        </p:blipFill>
        <p:spPr>
          <a:xfrm xmlns:a="http://schemas.openxmlformats.org/drawingml/2006/main">
            <a:off x="723900" y="4518660"/>
            <a:ext cx="8001000" cy="4095750"/>
          </a:xfrm>
          <a:prstGeom xmlns:a="http://schemas.openxmlformats.org/drawingml/2006/main" prst="rect">
            <a:avLst/>
          </a:prstGeom>
        </p:spPr>
      </p:pic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193D401-DDE2-42EF-B6D4-8779D2C047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4518660"/>
            <a:ext cx="8572500" cy="4095750"/>
          </a:xfrm>
          <a:prstGeom xmlns:a="http://schemas.openxmlformats.org/drawingml/2006/main" prst="roundRect">
            <a:avLst>
              <a:gd name="adj" fmla="val 3721"/>
            </a:avLst>
          </a:prstGeom>
          <a:solidFill xmlns:a="http://schemas.openxmlformats.org/drawingml/2006/main">
            <a:srgbClr val="F3F7F9"/>
          </a:solidFill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986CBFA-04FB-4376-A9B7-C5E94EE870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4781550"/>
            <a:ext cx="803910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173B4F"/>
                </a:solidFill>
              </a:defRPr>
            </a:pPr>
            <a:r>
              <a:t>Dataset flow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E962270-A66A-40EC-9EB3-F1BE97836B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5276850"/>
            <a:ext cx="80391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>
                <a:solidFill>
                  <a:srgbClr val="1E2933"/>
                </a:solidFill>
              </a:defRPr>
            </a:pPr>
            <a:r>
              <a:t>- 34 uploaded raw photos were converted into a consistent test format.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E16B804-3498-43B7-8D4F-221ECA1B1D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5695950"/>
            <a:ext cx="80391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>
                <a:solidFill>
                  <a:srgbClr val="1E2933"/>
                </a:solidFill>
              </a:defRPr>
            </a:pPr>
            <a:r>
              <a:t>- 12 suitable images were selected for final testing.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C5B7B65-001F-478D-B9C5-6924406794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6115050"/>
            <a:ext cx="80391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>
                <a:solidFill>
                  <a:srgbClr val="1E2933"/>
                </a:solidFill>
              </a:defRPr>
            </a:pPr>
            <a:r>
              <a:t>- All selected images were evaluated with the same batch pipeline.</a:t>
            </a:r>
          </a:p>
        </p:txBody>
      </p:sp>
    </p:spTree>
    <p:extLst>
      <p:ext uri="{BB962C8B-B14F-4D97-AF65-F5344CB8AC3E}">
        <p14:creationId xmlns:p14="http://schemas.microsoft.com/office/powerpoint/2010/main" val="1736119440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title">
            <a:extLst xmlns:a="http://schemas.openxmlformats.org/drawingml/2006/main">
              <a:ext uri="{FF2B5EF4-FFF2-40B4-BE49-F238E27FC236}">
                <a16:creationId xmlns:a16="http://schemas.microsoft.com/office/drawing/2014/main" id="{66493ECA-CA3D-4C51-B7FC-9EF70E8894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33400"/>
            <a:ext cx="16840200" cy="628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050" b="1">
                <a:solidFill>
                  <a:srgbClr val="173B4F"/>
                </a:solidFill>
              </a:defRPr>
            </a:pPr>
            <a:r>
              <a:t>Code Implementation</a:t>
            </a:r>
          </a:p>
        </p:txBody>
      </p:sp>
      <p:sp>
        <p:nvSpPr>
          <p:cNvPr id="2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6D307DA0-BED6-4526-80AB-CF90D7D818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238250"/>
            <a:ext cx="87058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65717C"/>
                </a:solidFill>
              </a:defRPr>
            </a:pPr>
            <a:r>
              <a:t>The deliverable includes runnable scripts, model weights, selected images, and batch outputs.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470CECE-07F9-4C38-A009-612C3B43D1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786890"/>
            <a:ext cx="8286750" cy="2790825"/>
          </a:xfrm>
          <a:prstGeom xmlns:a="http://schemas.openxmlformats.org/drawingml/2006/main" prst="roundRect">
            <a:avLst>
              <a:gd name="adj" fmla="val 477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9E4EA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715B721-98EB-4C5F-84BC-413305A5CD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057400"/>
            <a:ext cx="775335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173B4F"/>
                </a:solidFill>
              </a:defRPr>
            </a:pPr>
            <a:r>
              <a:t>Core segmentation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31A8BE3-22CC-4781-8BEB-BBE8D80354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514600"/>
            <a:ext cx="77533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1E2933"/>
                </a:solidFill>
              </a:defRPr>
            </a:pPr>
            <a:r>
              <a:t>- sam_boundary_refinement.py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3FCAFEC-FE22-453D-910D-D3E748284E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857500"/>
            <a:ext cx="77533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1E2933"/>
                </a:solidFill>
              </a:defRPr>
            </a:pPr>
            <a:r>
              <a:t>- SAM mask generation, edge scoring, GrabCut refinement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CD76EAF-5876-49FD-AAB4-19156EC880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1786890"/>
            <a:ext cx="8286750" cy="2790825"/>
          </a:xfrm>
          <a:prstGeom xmlns:a="http://schemas.openxmlformats.org/drawingml/2006/main" prst="roundRect">
            <a:avLst>
              <a:gd name="adj" fmla="val 477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9E4EA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F2DD29B-424D-436D-919C-687C555D5B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2057400"/>
            <a:ext cx="775335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173B4F"/>
                </a:solidFill>
              </a:defRPr>
            </a:pPr>
            <a:r>
              <a:t>Experiment runner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1BF9746-0872-4423-8EB9-62E6E5CBF1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2514600"/>
            <a:ext cx="77533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1E2933"/>
                </a:solidFill>
              </a:defRPr>
            </a:pPr>
            <a:r>
              <a:t>- run_experiment_versions.py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50EB25E-35E1-4ED1-A658-3F1F6F0EE0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2857500"/>
            <a:ext cx="77533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1E2933"/>
                </a:solidFill>
              </a:defRPr>
            </a:pPr>
            <a:r>
              <a:t>- runs v1-v8 model combinations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E670F4A-A493-475F-AFB2-47E8CFAC54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806315"/>
            <a:ext cx="8286750" cy="2790825"/>
          </a:xfrm>
          <a:prstGeom xmlns:a="http://schemas.openxmlformats.org/drawingml/2006/main" prst="roundRect">
            <a:avLst>
              <a:gd name="adj" fmla="val 477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9E4EA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884306C-F73A-4618-A47A-86848B8555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5067300"/>
            <a:ext cx="775335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173B4F"/>
                </a:solidFill>
              </a:defRPr>
            </a:pPr>
            <a:r>
              <a:t>Batch test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F7ECD2B-C4FC-475C-9CC9-35804B5F27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5524500"/>
            <a:ext cx="77533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1E2933"/>
                </a:solidFill>
              </a:defRPr>
            </a:pPr>
            <a:r>
              <a:t>- run_batch_test_images.py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18D4539-6194-4144-BDDA-C1A13E0B05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5886450"/>
            <a:ext cx="77533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1E2933"/>
                </a:solidFill>
              </a:defRPr>
            </a:pPr>
            <a:r>
              <a:t>- evaluates all selected images consistently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3F823A0-3638-4DB0-A15D-170ADC0D2E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4806315"/>
            <a:ext cx="8286750" cy="2790825"/>
          </a:xfrm>
          <a:prstGeom xmlns:a="http://schemas.openxmlformats.org/drawingml/2006/main" prst="roundRect">
            <a:avLst>
              <a:gd name="adj" fmla="val 477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9E4EA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C5C05B4-4F1E-4C1A-8FF6-FE414FF5A5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5067300"/>
            <a:ext cx="775335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173B4F"/>
                </a:solidFill>
              </a:defRPr>
            </a:pPr>
            <a:r>
              <a:t>Data preparation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A8CBAA0-7975-43F2-BDBE-F89E88E676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5524500"/>
            <a:ext cx="77533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1E2933"/>
                </a:solidFill>
              </a:defRPr>
            </a:pPr>
            <a:r>
              <a:t>- prepare_test_images.py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C22B905-0B86-4C9A-9383-242867666F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5886450"/>
            <a:ext cx="77533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1E2933"/>
                </a:solidFill>
              </a:defRPr>
            </a:pPr>
            <a:r>
              <a:t>- normalizes uploaded photos into test inputs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9B9E4CE-FCF5-4D4A-BD0C-40724441B9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7867650"/>
            <a:ext cx="168402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65717C"/>
                </a:solidFill>
              </a:defRPr>
            </a:pPr>
            <a:r>
              <a:t>The final_finale package also includes model weights, selected test images, full batch outputs, and citation files.</a:t>
            </a:r>
          </a:p>
        </p:txBody>
      </p:sp>
    </p:spTree>
    <p:extLst>
      <p:ext uri="{BB962C8B-B14F-4D97-AF65-F5344CB8AC3E}">
        <p14:creationId xmlns:p14="http://schemas.microsoft.com/office/powerpoint/2010/main" val="162581240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title">
            <a:extLst xmlns:a="http://schemas.openxmlformats.org/drawingml/2006/main">
              <a:ext uri="{FF2B5EF4-FFF2-40B4-BE49-F238E27FC236}">
                <a16:creationId xmlns:a16="http://schemas.microsoft.com/office/drawing/2014/main" id="{E8BB24C4-FE64-460E-B0F5-7947617B8D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33400"/>
            <a:ext cx="16840200" cy="628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050" b="1">
                <a:solidFill>
                  <a:srgbClr val="173B4F"/>
                </a:solidFill>
              </a:defRPr>
            </a:pPr>
            <a:r>
              <a:t>Experiment Versions</a:t>
            </a:r>
          </a:p>
        </p:txBody>
      </p:sp>
      <p:sp>
        <p:nvSpPr>
          <p:cNvPr id="2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6597D637-1864-4CA1-9167-1A890EBEE7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238250"/>
            <a:ext cx="798195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65717C"/>
                </a:solidFill>
              </a:defRPr>
            </a:pPr>
            <a:r>
              <a:t>Each version combines a different segmentation, localization, and refinement strategy.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02BFB0B-3C9A-477C-8F63-92BD9733B8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061210"/>
            <a:ext cx="24765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B4F"/>
          </a:solidFill>
          <a:ln xmlns:a="http://schemas.openxmlformats.org/drawingml/2006/main" w="9525">
            <a:solidFill>
              <a:srgbClr val="D9E4EA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13E94C1-DE2D-473B-8483-78450157EF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171700"/>
            <a:ext cx="22098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FFFFFF"/>
                </a:solidFill>
              </a:defRPr>
            </a:pPr>
            <a:r>
              <a:t>Version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D60DEC7-6DD8-4B6D-93F9-325BB6ED9B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2061210"/>
            <a:ext cx="72644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B4F"/>
          </a:solidFill>
          <a:ln xmlns:a="http://schemas.openxmlformats.org/drawingml/2006/main" w="9525">
            <a:solidFill>
              <a:srgbClr val="D9E4EA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A9C15FC-BC35-4BF3-AF31-9B60843633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171700"/>
            <a:ext cx="69913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FFFFFF"/>
                </a:solidFill>
              </a:defRPr>
            </a:pPr>
            <a:r>
              <a:t>Modules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F3DEE6B-A0A1-4299-B9D2-EDDF6E9F45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64800" y="2061210"/>
            <a:ext cx="29718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B4F"/>
          </a:solidFill>
          <a:ln xmlns:a="http://schemas.openxmlformats.org/drawingml/2006/main" w="9525">
            <a:solidFill>
              <a:srgbClr val="D9E4EA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659706F-B3EF-49BE-A51C-B4C0C7B8F9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91800" y="2171700"/>
            <a:ext cx="27051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FFFFFF"/>
                </a:solidFill>
              </a:defRPr>
            </a:pPr>
            <a:r>
              <a:t>Mean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D524515-332C-48BB-9CEF-3C5742EC13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36600" y="2061210"/>
            <a:ext cx="41275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B4F"/>
          </a:solidFill>
          <a:ln xmlns:a="http://schemas.openxmlformats.org/drawingml/2006/main" w="9525">
            <a:solidFill>
              <a:srgbClr val="D9E4EA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11F1F46-8728-46B3-B705-2A371E6C01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63600" y="2171700"/>
            <a:ext cx="38671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FFFFFF"/>
                </a:solidFill>
              </a:defRPr>
            </a:pPr>
            <a:r>
              <a:t>Role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3102254-B1AB-4930-924C-80ECFB0253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556510"/>
            <a:ext cx="24765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4EA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7AE38D9-DABA-44CA-A6A9-1153B28A0B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667000"/>
            <a:ext cx="22098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E2933"/>
                </a:solidFill>
              </a:defRPr>
            </a:pPr>
            <a:r>
              <a:t>v1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E9306FF-0492-4E82-9C86-A3C7258B23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2556510"/>
            <a:ext cx="72644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4EA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EB9A3F3-1156-4EDE-A863-F8A8BA7198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667000"/>
            <a:ext cx="69913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E2933"/>
                </a:solidFill>
              </a:defRPr>
            </a:pPr>
            <a:r>
              <a:t>SAM auto + Canny + GrabCut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0D8CF23-E064-4E15-9DB9-D56EA42648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64800" y="2556510"/>
            <a:ext cx="29718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4EA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AAEB699-E4EC-4E02-AA8F-7E07006866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91800" y="2667000"/>
            <a:ext cx="27051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E2933"/>
                </a:solidFill>
              </a:defRPr>
            </a:pPr>
            <a:r>
              <a:t>0.8708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03A8A6E-2A1E-4AAD-B644-C7368FA6AE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36600" y="2556510"/>
            <a:ext cx="41275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4EA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2FAD5BA-3A6C-425D-985F-21E019E2D0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63600" y="2667000"/>
            <a:ext cx="38671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65717C"/>
                </a:solidFill>
              </a:defRPr>
            </a:pPr>
            <a:r>
              <a:t>baseline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D5860E2-2AE8-4AAD-AD19-8FC33777B7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166110"/>
            <a:ext cx="24765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4EA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16C6372-FAF5-4A49-88DF-7120040A8D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276600"/>
            <a:ext cx="22098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E2933"/>
                </a:solidFill>
              </a:defRPr>
            </a:pPr>
            <a:r>
              <a:t>v2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95FC664-F912-4F50-BDAB-A76E32B4AB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3166110"/>
            <a:ext cx="72644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4EA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3A2B58C-523A-4E15-8483-599A73952B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3276600"/>
            <a:ext cx="69913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E2933"/>
                </a:solidFill>
              </a:defRPr>
            </a:pPr>
            <a:r>
              <a:t>SAM auto + edge refine + GrabCut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AE22584-01D7-4BD9-A9E4-084F05E131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64800" y="3166110"/>
            <a:ext cx="29718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4EA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EC15FF9-0EB0-4210-BCE9-23BB390481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91800" y="3276600"/>
            <a:ext cx="27051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E2933"/>
                </a:solidFill>
              </a:defRPr>
            </a:pPr>
            <a:r>
              <a:t>0.8666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43889EC-3818-4996-A5C9-062963E346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36600" y="3166110"/>
            <a:ext cx="41275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4EA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DAB141B-EE12-491A-A2F3-C605D9C81C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63600" y="3276600"/>
            <a:ext cx="38671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65717C"/>
                </a:solidFill>
              </a:defRPr>
            </a:pPr>
            <a:r>
              <a:t>baseline variant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26F5B30-BD34-43B2-9CCF-3C01A0BF32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775710"/>
            <a:ext cx="24765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4EA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C8AD506-1067-4EB4-96EA-9B9A12A702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886200"/>
            <a:ext cx="22098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E2933"/>
                </a:solidFill>
              </a:defRPr>
            </a:pPr>
            <a:r>
              <a:t>v5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B5C0A82-ECF0-4CAB-8B73-17DF08DBDA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3775710"/>
            <a:ext cx="72644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4EA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BA98E43-BD6C-471D-85C3-7EC2868244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3886200"/>
            <a:ext cx="69913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E2933"/>
                </a:solidFill>
              </a:defRPr>
            </a:pPr>
            <a:r>
              <a:t>YOLO box + SAM + GrabCut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2E1543D-85BE-4211-AFD0-F38320028B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64800" y="3775710"/>
            <a:ext cx="29718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4EA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F4C7ABC-6264-433A-9C4B-BD9762AF5E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91800" y="3886200"/>
            <a:ext cx="27051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E2933"/>
                </a:solidFill>
              </a:defRPr>
            </a:pPr>
            <a:r>
              <a:t>0.8422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E8A6A97C-1000-409E-BDDC-AC496A31D4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36600" y="3775710"/>
            <a:ext cx="41275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4EA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14AF4370-D6A1-4EC2-BE94-3F96ECC1E0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63600" y="3886200"/>
            <a:ext cx="38671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65717C"/>
                </a:solidFill>
              </a:defRPr>
            </a:pPr>
            <a:r>
              <a:t>YOLO-guided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F8517FB0-3B8B-45FC-AC63-F6CFF76F0A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385310"/>
            <a:ext cx="24765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6EE"/>
          </a:solidFill>
          <a:ln xmlns:a="http://schemas.openxmlformats.org/drawingml/2006/main" w="9525">
            <a:solidFill>
              <a:srgbClr val="D9E4EA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E25AF6FD-58ED-4283-BB86-A9CE5BB19F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495800"/>
            <a:ext cx="22098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3F8F61"/>
                </a:solidFill>
              </a:defRPr>
            </a:pPr>
            <a:r>
              <a:t>v6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E21EEE4D-9BE5-40B0-AC15-2B8A66A51E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4385310"/>
            <a:ext cx="72644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6EE"/>
          </a:solidFill>
          <a:ln xmlns:a="http://schemas.openxmlformats.org/drawingml/2006/main" w="9525">
            <a:solidFill>
              <a:srgbClr val="D9E4EA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C2F42594-683F-418B-A30D-CBD5712CBA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4495800"/>
            <a:ext cx="69913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E2933"/>
                </a:solidFill>
              </a:defRPr>
            </a:pPr>
            <a:r>
              <a:t>YOLO box + SAM + edge refine + GrabCut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2FEDAF27-80C3-4C64-A50C-B2AED7FDB2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64800" y="4385310"/>
            <a:ext cx="29718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6EE"/>
          </a:solidFill>
          <a:ln xmlns:a="http://schemas.openxmlformats.org/drawingml/2006/main" w="9525">
            <a:solidFill>
              <a:srgbClr val="D9E4EA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05EC15C7-17B3-41F1-8709-31730B1454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91800" y="4495800"/>
            <a:ext cx="27051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3F8F61"/>
                </a:solidFill>
              </a:defRPr>
            </a:pPr>
            <a:r>
              <a:t>0.8855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368D227A-3686-4FB5-8B0A-CC73EB3EDA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36600" y="4385310"/>
            <a:ext cx="41275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6EE"/>
          </a:solidFill>
          <a:ln xmlns:a="http://schemas.openxmlformats.org/drawingml/2006/main" w="9525">
            <a:solidFill>
              <a:srgbClr val="D9E4EA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3752DC03-2227-46BE-A049-9D82522BA1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63600" y="4495800"/>
            <a:ext cx="38671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65717C"/>
                </a:solidFill>
              </a:defRPr>
            </a:pPr>
            <a:r>
              <a:t>best result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E42B86DC-36FB-48F1-B151-F022ABF426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994910"/>
            <a:ext cx="24765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4EA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EBBDD5A5-918A-44FB-816D-E0058A7F6F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105400"/>
            <a:ext cx="22098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E2933"/>
                </a:solidFill>
              </a:defRPr>
            </a:pPr>
            <a:r>
              <a:t>v7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D4B997EB-B893-4F94-AC57-A82CD32616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4994910"/>
            <a:ext cx="72644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4EA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F88C0DD8-8489-4C96-8597-DD5A90A9EF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5105400"/>
            <a:ext cx="69913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E2933"/>
                </a:solidFill>
              </a:defRPr>
            </a:pPr>
            <a:r>
              <a:t>YOLO-Seg direct + edge refine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A1B6758D-EE90-41B9-B79E-8B2A480DE5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64800" y="4994910"/>
            <a:ext cx="29718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4EA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43513DA3-A933-4721-98C0-3B88BE0987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91800" y="5105400"/>
            <a:ext cx="27051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E2933"/>
                </a:solidFill>
              </a:defRPr>
            </a:pPr>
            <a:r>
              <a:t>0.5768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D304D446-7C14-4B5C-99D3-DB6715DE50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36600" y="4994910"/>
            <a:ext cx="41275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4EA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02B89AC6-D54A-49D8-874F-DFD298ACB3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63600" y="5105400"/>
            <a:ext cx="38671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65717C"/>
                </a:solidFill>
              </a:defRPr>
            </a:pPr>
            <a:r>
              <a:t>weak direct mask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BAABA341-5431-4748-82E3-43E8C65270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604510"/>
            <a:ext cx="24765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4EA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9346BCD3-FF77-4FCE-BB54-C913032C6B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715000"/>
            <a:ext cx="22098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E2933"/>
                </a:solidFill>
              </a:defRPr>
            </a:pPr>
            <a:r>
              <a:t>v8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893C535A-435E-4C74-8F90-FFFA796787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5604510"/>
            <a:ext cx="72644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4EA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E35294BF-7871-4568-A52A-4AA672D9FA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5715000"/>
            <a:ext cx="69913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E2933"/>
                </a:solidFill>
              </a:defRPr>
            </a:pPr>
            <a:r>
              <a:t>YOLO-Seg + GrabCut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DA60DF07-3944-4B68-A6AD-E182B288EF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64800" y="5604510"/>
            <a:ext cx="29718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4EA"/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C42A5580-044C-4ADE-B136-E647C17F1F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91800" y="5715000"/>
            <a:ext cx="27051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E2933"/>
                </a:solidFill>
              </a:defRPr>
            </a:pPr>
            <a:r>
              <a:t>0.7918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E5092E98-0674-4DE0-A83A-0EAA9763F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36600" y="5604510"/>
            <a:ext cx="41275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4EA"/>
            </a:solidFill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EB623973-C818-4F7E-8821-A892A6A819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63600" y="5715000"/>
            <a:ext cx="38671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65717C"/>
                </a:solidFill>
              </a:defRPr>
            </a:pPr>
            <a:r>
              <a:t>post-processing helps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63BF4404-7F02-4F30-8E7F-D55CED913C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214110"/>
            <a:ext cx="24765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4EA"/>
            </a:solidFill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3249B2A1-2B7D-4999-8E0B-27AA6CD12E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6324600"/>
            <a:ext cx="22098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E2933"/>
                </a:solidFill>
              </a:defRPr>
            </a:pPr>
            <a:r>
              <a:t>v3/v4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AC429DF7-4112-4561-853D-1B9B6883EA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6214110"/>
            <a:ext cx="72644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4EA"/>
            </a:solidFill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B8AF8E39-9472-4EB4-96B3-E98C2CBABD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6324600"/>
            <a:ext cx="69913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E2933"/>
                </a:solidFill>
              </a:defRPr>
            </a:pPr>
            <a:r>
              <a:t>Manual box versions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7D68811C-A6D4-4C64-B354-0E26D49E20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64800" y="6214110"/>
            <a:ext cx="29718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4EA"/>
            </a:solidFill>
            <a:prstDash val="solid"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F93CF391-D778-46FB-A381-A63D73FCB3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91800" y="6324600"/>
            <a:ext cx="27051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E2933"/>
                </a:solidFill>
              </a:defRPr>
            </a:pPr>
            <a:r>
              <a:t>skipped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B8ABFE29-2460-4AA6-810D-37E90249EB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36600" y="6214110"/>
            <a:ext cx="41275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4EA"/>
            </a:solidFill>
            <a:prstDash val="solid"/>
          </a:ln>
        </p:spPr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E11E816E-1C4D-4527-B123-DEAE8A0C7C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63600" y="6324600"/>
            <a:ext cx="38671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65717C"/>
                </a:solidFill>
              </a:defRPr>
            </a:pPr>
            <a:r>
              <a:t>manual prompts needed</a:t>
            </a:r>
          </a:p>
        </p:txBody>
      </p:sp>
    </p:spTree>
    <p:extLst>
      <p:ext uri="{BB962C8B-B14F-4D97-AF65-F5344CB8AC3E}">
        <p14:creationId xmlns:p14="http://schemas.microsoft.com/office/powerpoint/2010/main" val="177561288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title">
            <a:extLst xmlns:a="http://schemas.openxmlformats.org/drawingml/2006/main">
              <a:ext uri="{FF2B5EF4-FFF2-40B4-BE49-F238E27FC236}">
                <a16:creationId xmlns:a16="http://schemas.microsoft.com/office/drawing/2014/main" id="{3C79BCAE-9260-4273-89CB-B08ACB0772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33400"/>
            <a:ext cx="16840200" cy="628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050" b="1">
                <a:solidFill>
                  <a:srgbClr val="173B4F"/>
                </a:solidFill>
              </a:defRPr>
            </a:pPr>
            <a:r>
              <a:t>Quantitative Results</a:t>
            </a:r>
          </a:p>
        </p:txBody>
      </p:sp>
      <p:sp>
        <p:nvSpPr>
          <p:cNvPr id="2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ABFAA322-EB91-4CD2-BB99-978AA02496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238250"/>
            <a:ext cx="744855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65717C"/>
                </a:solidFill>
              </a:defRPr>
            </a:pPr>
            <a:r>
              <a:t>v6 achieved the highest mean edge alignment on the selected 12-image test set.</a:t>
            </a:r>
          </a:p>
        </p:txBody>
      </p:sp>
      <p:pic>
        <p:nvPicPr>
          <p:cNvPr id="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e4344d145d746c4"/>
          <a:stretch xmlns:a="http://schemas.openxmlformats.org/drawingml/2006/main"/>
        </p:blipFill>
        <p:spPr>
          <a:xfrm xmlns:a="http://schemas.openxmlformats.org/drawingml/2006/main">
            <a:off x="723900" y="2061210"/>
            <a:ext cx="10668000" cy="561975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F8C1EF0-338A-4C76-B342-D96EE9481E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77650" y="2061210"/>
            <a:ext cx="5886450" cy="1619250"/>
          </a:xfrm>
          <a:prstGeom xmlns:a="http://schemas.openxmlformats.org/drawingml/2006/main" prst="roundRect">
            <a:avLst>
              <a:gd name="adj" fmla="val 8235"/>
            </a:avLst>
          </a:prstGeom>
          <a:solidFill xmlns:a="http://schemas.openxmlformats.org/drawingml/2006/main">
            <a:srgbClr val="EAF6EE"/>
          </a:solidFill>
          <a:ln xmlns:a="http://schemas.openxmlformats.org/drawingml/2006/main" w="19050">
            <a:solidFill>
              <a:srgbClr val="A9D7B8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C7C5F46-18B0-447F-B8AB-93C2BF9413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44350" y="2324100"/>
            <a:ext cx="5353050" cy="495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3F8F61"/>
                </a:solidFill>
              </a:defRPr>
            </a:pPr>
            <a:r>
              <a:t>0.8855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F60BF3E-B3FC-4613-86F5-A676BD8ED4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44350" y="2857500"/>
            <a:ext cx="53530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65717C"/>
                </a:solidFill>
              </a:defRPr>
            </a:pPr>
            <a:r>
              <a:t>v6 best mean score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9012E09-709F-4F6A-93A0-C7F50FBE11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77650" y="3890010"/>
            <a:ext cx="5886450" cy="1619250"/>
          </a:xfrm>
          <a:prstGeom xmlns:a="http://schemas.openxmlformats.org/drawingml/2006/main" prst="roundRect">
            <a:avLst>
              <a:gd name="adj" fmla="val 823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9E4EA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659D547-5211-4F43-A9B4-B0F9EEE36B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44350" y="4152900"/>
            <a:ext cx="5353050" cy="495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3F8F61"/>
                </a:solidFill>
              </a:defRPr>
            </a:pPr>
            <a:r>
              <a:t>0.7518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00A9832-AE26-412C-9F86-E7906F5D0D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44350" y="4686300"/>
            <a:ext cx="53530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65717C"/>
                </a:solidFill>
              </a:defRPr>
            </a:pPr>
            <a:r>
              <a:t>v6 minimum score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D4014C4-A5D1-42F3-86BA-A5E1E3CA2D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77650" y="5718810"/>
            <a:ext cx="5886450" cy="1962150"/>
          </a:xfrm>
          <a:prstGeom xmlns:a="http://schemas.openxmlformats.org/drawingml/2006/main" prst="roundRect">
            <a:avLst>
              <a:gd name="adj" fmla="val 6796"/>
            </a:avLst>
          </a:prstGeom>
          <a:solidFill xmlns:a="http://schemas.openxmlformats.org/drawingml/2006/main">
            <a:srgbClr val="F3F7F9"/>
          </a:solidFill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1BC883F-1A10-4DB3-B15A-E67517624A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25300" y="5962650"/>
            <a:ext cx="539115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173B4F"/>
                </a:solidFill>
              </a:defRPr>
            </a:pPr>
            <a:r>
              <a:t>Interpretation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12DE72E-46D8-4950-A283-23D393A04B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25300" y="6419850"/>
            <a:ext cx="53911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1E2933"/>
                </a:solidFill>
              </a:defRPr>
            </a:pPr>
            <a:r>
              <a:t>- YOLO guidance improves target focus.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ACCDB34-670C-46DB-9138-10AB85AD5C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25300" y="6762750"/>
            <a:ext cx="53911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1E2933"/>
                </a:solidFill>
              </a:defRPr>
            </a:pPr>
            <a:r>
              <a:t>- Edge refinement stabilizes the guided pipeline.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2CFC32F-3038-40B6-8CF2-BA4B3DA60D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25300" y="7124700"/>
            <a:ext cx="53911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1E2933"/>
                </a:solidFill>
              </a:defRPr>
            </a:pPr>
            <a:r>
              <a:t>- GrabCut improves YOLO-Seg from v7 to v8.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D23D2EE-2407-4564-8EED-FB57E3E9B1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7943850"/>
            <a:ext cx="168402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65717C"/>
                </a:solidFill>
              </a:defRPr>
            </a:pPr>
            <a:r>
              <a:t>Edge alignment is a proxy metric. A complete final evaluation should add ground-truth masks and report IoU/Dice.</a:t>
            </a:r>
          </a:p>
        </p:txBody>
      </p:sp>
    </p:spTree>
    <p:extLst>
      <p:ext uri="{BB962C8B-B14F-4D97-AF65-F5344CB8AC3E}">
        <p14:creationId xmlns:p14="http://schemas.microsoft.com/office/powerpoint/2010/main" val="677970774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title">
            <a:extLst xmlns:a="http://schemas.openxmlformats.org/drawingml/2006/main">
              <a:ext uri="{FF2B5EF4-FFF2-40B4-BE49-F238E27FC236}">
                <a16:creationId xmlns:a16="http://schemas.microsoft.com/office/drawing/2014/main" id="{5EC8BFD8-24BA-441D-8D9D-074060E143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33400"/>
            <a:ext cx="16840200" cy="628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050" b="1">
                <a:solidFill>
                  <a:srgbClr val="173B4F"/>
                </a:solidFill>
              </a:defRPr>
            </a:pPr>
            <a:r>
              <a:t>Visual Results and Limitations</a:t>
            </a:r>
          </a:p>
        </p:txBody>
      </p:sp>
      <p:sp>
        <p:nvSpPr>
          <p:cNvPr id="2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C7733966-5B47-4656-B9D5-B2D0AF4819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238250"/>
            <a:ext cx="68199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65717C"/>
                </a:solidFill>
              </a:defRPr>
            </a:pPr>
            <a:r>
              <a:t>The modified model improves many boundaries, but failure cases remain.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0F4ACB4-8495-4B98-A99D-0C4BB5730E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790700"/>
            <a:ext cx="114109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73B4F"/>
                </a:solidFill>
              </a:defRPr>
            </a:pPr>
            <a:r>
              <a:t>Representative case</a:t>
            </a:r>
          </a:p>
        </p:txBody>
      </p:sp>
      <p:pic>
        <p:nvPicPr>
          <p:cNvPr id="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b703bd624c74f95"/>
          <a:stretch xmlns:a="http://schemas.openxmlformats.org/drawingml/2006/main"/>
        </p:blipFill>
        <p:spPr>
          <a:xfrm xmlns:a="http://schemas.openxmlformats.org/drawingml/2006/main">
            <a:off x="723900" y="2278380"/>
            <a:ext cx="11410950" cy="238125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C9CA620-5231-4BDE-980A-8E31B8094B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838700"/>
            <a:ext cx="114109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73B4F"/>
                </a:solidFill>
              </a:defRPr>
            </a:pPr>
            <a:r>
              <a:t>Limitation case</a:t>
            </a:r>
          </a:p>
        </p:txBody>
      </p:sp>
      <p:pic>
        <p:nvPicPr>
          <p:cNvPr id="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445330248ba44ac"/>
          <a:stretch xmlns:a="http://schemas.openxmlformats.org/drawingml/2006/main"/>
        </p:blipFill>
        <p:spPr>
          <a:xfrm xmlns:a="http://schemas.openxmlformats.org/drawingml/2006/main">
            <a:off x="723900" y="5322570"/>
            <a:ext cx="11410950" cy="2381250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3FD1C1F-04CE-473D-A0D4-83D6C7479F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20600" y="1786890"/>
            <a:ext cx="5143500" cy="5953125"/>
          </a:xfrm>
          <a:prstGeom xmlns:a="http://schemas.openxmlformats.org/drawingml/2006/main" prst="roundRect">
            <a:avLst>
              <a:gd name="adj" fmla="val 2963"/>
            </a:avLst>
          </a:prstGeom>
          <a:solidFill xmlns:a="http://schemas.openxmlformats.org/drawingml/2006/main">
            <a:srgbClr val="F3F7F9"/>
          </a:solidFill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9E95B22-0A4A-4113-8D1D-1B0F8EB939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06350" y="2076450"/>
            <a:ext cx="457200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173B4F"/>
                </a:solidFill>
              </a:defRPr>
            </a:pPr>
            <a:r>
              <a:t>Current limitations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B0C1B0E-9055-45FD-8101-A9BCCE5CBE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06350" y="2609850"/>
            <a:ext cx="45720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>
                <a:solidFill>
                  <a:srgbClr val="1E2933"/>
                </a:solidFill>
              </a:defRPr>
            </a:pPr>
            <a:r>
              <a:t>- The dataset is small and self-collected.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C47FDE3-21AC-4E2A-AE6E-E429563B99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06350" y="3067050"/>
            <a:ext cx="45720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>
                <a:solidFill>
                  <a:srgbClr val="1E2933"/>
                </a:solidFill>
              </a:defRPr>
            </a:pPr>
            <a:r>
              <a:t>- No ground-truth mask is available yet.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E52E42F-1186-45BD-9FF3-D45E4FCAF3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06350" y="3524250"/>
            <a:ext cx="457200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>
                <a:solidFill>
                  <a:srgbClr val="1E2933"/>
                </a:solidFill>
              </a:defRPr>
            </a:pPr>
            <a:r>
              <a:t>- Large person regions can still cause unstable masks.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FD8AF12-1990-427A-B2A4-30B754A894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06350" y="4267200"/>
            <a:ext cx="457200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>
                <a:solidFill>
                  <a:srgbClr val="1E2933"/>
                </a:solidFill>
              </a:defRPr>
            </a:pPr>
            <a:r>
              <a:t>- Edge alignment does not fully replace IoU or Dice.</a:t>
            </a:r>
          </a:p>
        </p:txBody>
      </p:sp>
    </p:spTree>
    <p:extLst>
      <p:ext uri="{BB962C8B-B14F-4D97-AF65-F5344CB8AC3E}">
        <p14:creationId xmlns:p14="http://schemas.microsoft.com/office/powerpoint/2010/main" val="967038774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title">
            <a:extLst xmlns:a="http://schemas.openxmlformats.org/drawingml/2006/main">
              <a:ext uri="{FF2B5EF4-FFF2-40B4-BE49-F238E27FC236}">
                <a16:creationId xmlns:a16="http://schemas.microsoft.com/office/drawing/2014/main" id="{44D373A0-C797-4F70-99AB-D3757FF649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33400"/>
            <a:ext cx="16840200" cy="628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050" b="1">
                <a:solidFill>
                  <a:srgbClr val="173B4F"/>
                </a:solidFill>
              </a:defRPr>
            </a:pPr>
            <a:r>
              <a:t>Conclusion and References</a:t>
            </a:r>
          </a:p>
        </p:txBody>
      </p:sp>
      <p:sp>
        <p:nvSpPr>
          <p:cNvPr id="2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7DF357CC-3A7D-4EDD-877F-91C50775DA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238250"/>
            <a:ext cx="878205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65717C"/>
                </a:solidFill>
              </a:defRPr>
            </a:pPr>
            <a:r>
              <a:t>The final result is a practical multi-model pipeline for preliminary person boundary refinement.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0D2A679-8F3E-4A0D-A291-547B5C6DA7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061210"/>
            <a:ext cx="16840200" cy="2190750"/>
          </a:xfrm>
          <a:prstGeom xmlns:a="http://schemas.openxmlformats.org/drawingml/2006/main" prst="roundRect">
            <a:avLst>
              <a:gd name="adj" fmla="val 6957"/>
            </a:avLst>
          </a:prstGeom>
          <a:solidFill xmlns:a="http://schemas.openxmlformats.org/drawingml/2006/main">
            <a:srgbClr val="EAF6EE"/>
          </a:solidFill>
          <a:ln xmlns:a="http://schemas.openxmlformats.org/drawingml/2006/main" w="19050">
            <a:solidFill>
              <a:srgbClr val="A9D7B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E8D7609-8924-4C82-A171-CD959A9E28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381250"/>
            <a:ext cx="16192500" cy="838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3F8F61"/>
                </a:solidFill>
              </a:defRPr>
            </a:pPr>
            <a:r>
              <a:t>Final claim: YOLO-guided SAM with edge refinement and GrabCut is the best tested version in the current 12-image preliminary experiment.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8214DD8-25AE-47E2-B12B-01AD6D1E96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518660"/>
            <a:ext cx="8286750" cy="4238625"/>
          </a:xfrm>
          <a:prstGeom xmlns:a="http://schemas.openxmlformats.org/drawingml/2006/main" prst="roundRect">
            <a:avLst>
              <a:gd name="adj" fmla="val 3146"/>
            </a:avLst>
          </a:prstGeom>
          <a:solidFill xmlns:a="http://schemas.openxmlformats.org/drawingml/2006/main">
            <a:srgbClr val="F3F7F9"/>
          </a:solidFill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FAA5CCA-1F20-44F2-B97F-B9B4723397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762500"/>
            <a:ext cx="779145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173B4F"/>
                </a:solidFill>
              </a:defRPr>
            </a:pPr>
            <a:r>
              <a:t>Main references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C04990C-3BF8-419C-AAEC-01086160DD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5200650"/>
            <a:ext cx="77914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1E2933"/>
                </a:solidFill>
              </a:defRPr>
            </a:pPr>
            <a:r>
              <a:t>- Kirillov et al. (2023): Segment Anything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78E51F7-1D12-456D-8C1A-D5ABA6F22A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5543550"/>
            <a:ext cx="77914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1E2933"/>
                </a:solidFill>
              </a:defRPr>
            </a:pPr>
            <a:r>
              <a:t>- Terven &amp; Cordova-Esparza (2023): YOLO review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4BA8213-ACBB-4144-8212-4EBD1F84E1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5867400"/>
            <a:ext cx="77914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1E2933"/>
                </a:solidFill>
              </a:defRPr>
            </a:pPr>
            <a:r>
              <a:t>- Gaus et al. (2024): SAM prompt evaluation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A24FDD9-BA89-4F66-9F92-536F833E39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6210300"/>
            <a:ext cx="77914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1E2933"/>
                </a:solidFill>
              </a:defRPr>
            </a:pPr>
            <a:r>
              <a:t>- Rother et al. (2004): GrabCut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5D4EC22-EA9E-42A2-840A-EFCDF2760F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6553200"/>
            <a:ext cx="77914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1E2933"/>
                </a:solidFill>
              </a:defRPr>
            </a:pPr>
            <a:r>
              <a:t>- Canny (1986): edge detection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C37A3B7-0C67-472C-9875-F0FE6FD5E6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4518660"/>
            <a:ext cx="8286750" cy="4238625"/>
          </a:xfrm>
          <a:prstGeom xmlns:a="http://schemas.openxmlformats.org/drawingml/2006/main" prst="roundRect">
            <a:avLst>
              <a:gd name="adj" fmla="val 314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9E4EA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54F8C2C-68A2-4DD3-B4FC-5573FDE575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4762500"/>
            <a:ext cx="779145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173B4F"/>
                </a:solidFill>
              </a:defRPr>
            </a:pPr>
            <a:r>
              <a:t>Future work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308F687-A7F3-4B34-AE5E-A63B5385F4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5219700"/>
            <a:ext cx="77914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>
                <a:solidFill>
                  <a:srgbClr val="1E2933"/>
                </a:solidFill>
              </a:defRPr>
            </a:pPr>
            <a:r>
              <a:t>- Create 5-10 ground-truth masks.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FA0E30B-0DCD-43E1-9618-A2510B3D5A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5619750"/>
            <a:ext cx="77914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>
                <a:solidFill>
                  <a:srgbClr val="1E2933"/>
                </a:solidFill>
              </a:defRPr>
            </a:pPr>
            <a:r>
              <a:t>- Report IoU and Dice scores.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ECF297E-5B5B-4622-85CA-7F81073E2C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6019800"/>
            <a:ext cx="77914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>
                <a:solidFill>
                  <a:srgbClr val="1E2933"/>
                </a:solidFill>
              </a:defRPr>
            </a:pPr>
            <a:r>
              <a:t>- Test more difficult backgrounds and poses.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6983DE4-ED90-48D0-BF69-2C2661F1DA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6419850"/>
            <a:ext cx="77914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>
                <a:solidFill>
                  <a:srgbClr val="1E2933"/>
                </a:solidFill>
              </a:defRPr>
            </a:pPr>
            <a:r>
              <a:t>- Compare with stronger segmentation baselines.</a:t>
            </a:r>
          </a:p>
        </p:txBody>
      </p:sp>
    </p:spTree>
    <p:extLst>
      <p:ext uri="{BB962C8B-B14F-4D97-AF65-F5344CB8AC3E}">
        <p14:creationId xmlns:p14="http://schemas.microsoft.com/office/powerpoint/2010/main" val="144318708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2026-05-26T10:45:27.4990000Z</dcterms:created>
  <dcterms:modified xsi:type="dcterms:W3CDTF">2026-05-26T10:45:27.4990000Z</dcterms:modified>
</coreProperties>
</file>